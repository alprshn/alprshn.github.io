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77" r:id="rId7"/>
    <p:sldId id="261" r:id="rId8"/>
    <p:sldId id="262" r:id="rId9"/>
    <p:sldId id="278"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6C6D9E1-EF61-42E9-A70C-B1D45B002F77}"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1871813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C6D9E1-EF61-42E9-A70C-B1D45B002F77}"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2178220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6C6D9E1-EF61-42E9-A70C-B1D45B002F77}"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1332440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6C6D9E1-EF61-42E9-A70C-B1D45B002F77}" type="datetimeFigureOut">
              <a:rPr lang="en-US" smtClean="0"/>
              <a:t>10/9/2023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2925954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6C6D9E1-EF61-42E9-A70C-B1D45B002F77}" type="datetimeFigureOut">
              <a:rPr lang="en-US" smtClean="0"/>
              <a:t>10/9/2023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2751024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6C6D9E1-EF61-42E9-A70C-B1D45B002F77}" type="datetimeFigureOut">
              <a:rPr lang="en-US" smtClean="0"/>
              <a:t>10/9/2023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567527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C6D9E1-EF61-42E9-A70C-B1D45B002F77}" type="datetimeFigureOut">
              <a:rPr lang="en-US" smtClean="0"/>
              <a:t>10/9/2023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3606134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6C6D9E1-EF61-42E9-A70C-B1D45B002F77}" type="datetimeFigureOut">
              <a:rPr lang="en-US" smtClean="0"/>
              <a:t>10/9/2023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2417526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6C6D9E1-EF61-42E9-A70C-B1D45B002F77}" type="datetimeFigureOut">
              <a:rPr lang="en-US" smtClean="0"/>
              <a:t>10/9/2023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1788086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6C6D9E1-EF61-42E9-A70C-B1D45B002F77}"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1983268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6C6D9E1-EF61-42E9-A70C-B1D45B002F77}"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A2FC1-AE83-41DD-8F83-6952744373A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11317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6C6D9E1-EF61-42E9-A70C-B1D45B002F77}"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853563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6C6D9E1-EF61-42E9-A70C-B1D45B002F77}"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A2FC1-AE83-41DD-8F83-6952744373A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761608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6C6D9E1-EF61-42E9-A70C-B1D45B002F77}"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7150883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C6D9E1-EF61-42E9-A70C-B1D45B002F77}"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23405994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C6D9E1-EF61-42E9-A70C-B1D45B002F77}" type="datetimeFigureOut">
              <a:rPr lang="en-US" smtClean="0"/>
              <a:t>10/9/2023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AA2FC1-AE83-41DD-8F83-6952744373A4}" type="slidenum">
              <a:rPr lang="en-US" smtClean="0"/>
              <a:t>‹#›</a:t>
            </a:fld>
            <a:endParaRPr lang="en-US"/>
          </a:p>
        </p:txBody>
      </p:sp>
    </p:spTree>
    <p:extLst>
      <p:ext uri="{BB962C8B-B14F-4D97-AF65-F5344CB8AC3E}">
        <p14:creationId xmlns:p14="http://schemas.microsoft.com/office/powerpoint/2010/main" val="2235649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6C6D9E1-EF61-42E9-A70C-B1D45B002F77}" type="datetimeFigureOut">
              <a:rPr lang="en-US" smtClean="0"/>
              <a:t>10/9/2023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0AA2FC1-AE83-41DD-8F83-6952744373A4}" type="slidenum">
              <a:rPr lang="en-US" smtClean="0"/>
              <a:t>‹#›</a:t>
            </a:fld>
            <a:endParaRPr lang="en-US"/>
          </a:p>
        </p:txBody>
      </p:sp>
    </p:spTree>
    <p:extLst>
      <p:ext uri="{BB962C8B-B14F-4D97-AF65-F5344CB8AC3E}">
        <p14:creationId xmlns:p14="http://schemas.microsoft.com/office/powerpoint/2010/main" val="10567788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4.emf"/></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Introduction to Formal Languages and Basics of Automata</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06471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78568"/>
          </a:xfrm>
        </p:spPr>
        <p:txBody>
          <a:bodyPr/>
          <a:lstStyle/>
          <a:p>
            <a:r>
              <a:rPr lang="en-US" dirty="0" smtClean="0"/>
              <a:t>Alphabet</a:t>
            </a:r>
            <a:endParaRPr lang="en-US" dirty="0"/>
          </a:p>
        </p:txBody>
      </p:sp>
      <p:sp>
        <p:nvSpPr>
          <p:cNvPr id="3" name="Content Placeholder 2"/>
          <p:cNvSpPr>
            <a:spLocks noGrp="1"/>
          </p:cNvSpPr>
          <p:nvPr>
            <p:ph idx="1"/>
          </p:nvPr>
        </p:nvSpPr>
        <p:spPr>
          <a:xfrm>
            <a:off x="1058778" y="1588169"/>
            <a:ext cx="8215223" cy="4453194"/>
          </a:xfrm>
        </p:spPr>
        <p:txBody>
          <a:bodyPr/>
          <a:lstStyle/>
          <a:p>
            <a:r>
              <a:rPr lang="en-US" dirty="0"/>
              <a:t>An alphabet is a finite, non-empty set of symbols or characters. These symbols are the basic elements used to construct strings in a particular context</a:t>
            </a:r>
            <a:r>
              <a:rPr lang="en-US" dirty="0" smtClean="0"/>
              <a:t>.</a:t>
            </a:r>
          </a:p>
          <a:p>
            <a:r>
              <a:rPr lang="en-US" dirty="0"/>
              <a:t>F</a:t>
            </a:r>
            <a:r>
              <a:rPr lang="en-US" dirty="0" smtClean="0"/>
              <a:t>ormally</a:t>
            </a:r>
            <a:r>
              <a:rPr lang="en-US" dirty="0"/>
              <a:t>, an alphabet is denoted by Σ and can be represented as Σ = {a₁, a₂, ..., </a:t>
            </a:r>
            <a:r>
              <a:rPr lang="en-US" dirty="0" err="1"/>
              <a:t>a_n</a:t>
            </a:r>
            <a:r>
              <a:rPr lang="en-US" dirty="0"/>
              <a:t>}, where a₁, a₂, ..., </a:t>
            </a:r>
            <a:r>
              <a:rPr lang="en-US" dirty="0" err="1"/>
              <a:t>a_n</a:t>
            </a:r>
            <a:r>
              <a:rPr lang="en-US" dirty="0"/>
              <a:t> are the individual symbols or characters in the alphabet</a:t>
            </a:r>
            <a:r>
              <a:rPr lang="en-US" dirty="0" smtClean="0"/>
              <a:t>.</a:t>
            </a:r>
          </a:p>
          <a:p>
            <a:r>
              <a:rPr lang="en-US" dirty="0"/>
              <a:t>For example, Σ = {0, 1} is an alphabet consisting of two symbols, 0 and 1.</a:t>
            </a:r>
          </a:p>
        </p:txBody>
      </p:sp>
    </p:spTree>
    <p:extLst>
      <p:ext uri="{BB962C8B-B14F-4D97-AF65-F5344CB8AC3E}">
        <p14:creationId xmlns:p14="http://schemas.microsoft.com/office/powerpoint/2010/main" val="797417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70021"/>
          </a:xfrm>
        </p:spPr>
        <p:txBody>
          <a:bodyPr/>
          <a:lstStyle/>
          <a:p>
            <a:r>
              <a:rPr lang="en-US" dirty="0" smtClean="0"/>
              <a:t>String</a:t>
            </a:r>
            <a:endParaRPr lang="en-US" dirty="0"/>
          </a:p>
        </p:txBody>
      </p:sp>
      <p:sp>
        <p:nvSpPr>
          <p:cNvPr id="3" name="Content Placeholder 2"/>
          <p:cNvSpPr>
            <a:spLocks noGrp="1"/>
          </p:cNvSpPr>
          <p:nvPr>
            <p:ph idx="1"/>
          </p:nvPr>
        </p:nvSpPr>
        <p:spPr>
          <a:xfrm>
            <a:off x="677334" y="1732547"/>
            <a:ext cx="8596668" cy="4308815"/>
          </a:xfrm>
        </p:spPr>
        <p:txBody>
          <a:bodyPr/>
          <a:lstStyle/>
          <a:p>
            <a:r>
              <a:rPr lang="en-US" dirty="0"/>
              <a:t>A string is a finite sequence of symbols chosen from an alphabet Σ. It is essentially a concatenation of symbols from the given alphabet</a:t>
            </a:r>
            <a:r>
              <a:rPr lang="en-US" dirty="0" smtClean="0"/>
              <a:t>.</a:t>
            </a:r>
          </a:p>
          <a:p>
            <a:r>
              <a:rPr lang="en-US" dirty="0"/>
              <a:t>Formally, a string is a finite-length sequence of characters over the alphabet Σ</a:t>
            </a:r>
            <a:r>
              <a:rPr lang="en-US" dirty="0" smtClean="0"/>
              <a:t>.</a:t>
            </a:r>
          </a:p>
          <a:p>
            <a:r>
              <a:rPr lang="en-US" dirty="0"/>
              <a:t>For example, if Σ = {a, b}, then "aba", "b", and "</a:t>
            </a:r>
            <a:r>
              <a:rPr lang="en-US" dirty="0" err="1"/>
              <a:t>aabba</a:t>
            </a:r>
            <a:r>
              <a:rPr lang="en-US" dirty="0"/>
              <a:t>" are strings over the alphabet Σ.</a:t>
            </a:r>
          </a:p>
          <a:p>
            <a:endParaRPr lang="en-US" dirty="0"/>
          </a:p>
        </p:txBody>
      </p:sp>
    </p:spTree>
    <p:extLst>
      <p:ext uri="{BB962C8B-B14F-4D97-AF65-F5344CB8AC3E}">
        <p14:creationId xmlns:p14="http://schemas.microsoft.com/office/powerpoint/2010/main" val="2941867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86063"/>
          </a:xfrm>
        </p:spPr>
        <p:txBody>
          <a:bodyPr/>
          <a:lstStyle/>
          <a:p>
            <a:r>
              <a:rPr lang="en-US" dirty="0" smtClean="0"/>
              <a:t>Language</a:t>
            </a:r>
            <a:endParaRPr lang="en-US" dirty="0"/>
          </a:p>
        </p:txBody>
      </p:sp>
      <p:sp>
        <p:nvSpPr>
          <p:cNvPr id="3" name="Content Placeholder 2"/>
          <p:cNvSpPr>
            <a:spLocks noGrp="1"/>
          </p:cNvSpPr>
          <p:nvPr>
            <p:ph idx="1"/>
          </p:nvPr>
        </p:nvSpPr>
        <p:spPr>
          <a:xfrm>
            <a:off x="677334" y="1780675"/>
            <a:ext cx="8596668" cy="4260688"/>
          </a:xfrm>
        </p:spPr>
        <p:txBody>
          <a:bodyPr/>
          <a:lstStyle/>
          <a:p>
            <a:r>
              <a:rPr lang="en-US" dirty="0"/>
              <a:t>In the context of formal languages, a language is a set of strings or sequences of symbols from a specified alphabet</a:t>
            </a:r>
            <a:r>
              <a:rPr lang="en-US" dirty="0" smtClean="0"/>
              <a:t>.</a:t>
            </a:r>
          </a:p>
          <a:p>
            <a:r>
              <a:rPr lang="en-US" dirty="0"/>
              <a:t>A language can be finite or infinite, depending on the number of strings it contains</a:t>
            </a:r>
            <a:r>
              <a:rPr lang="en-US" dirty="0" smtClean="0"/>
              <a:t>.</a:t>
            </a:r>
          </a:p>
          <a:p>
            <a:r>
              <a:rPr lang="en-US" dirty="0"/>
              <a:t>Formally, a language L over an alphabet Σ is a set of strings, where each string is composed of symbols from Σ</a:t>
            </a:r>
            <a:r>
              <a:rPr lang="en-US" dirty="0" smtClean="0"/>
              <a:t>.</a:t>
            </a:r>
          </a:p>
          <a:p>
            <a:r>
              <a:rPr lang="en-US" dirty="0"/>
              <a:t>For example, if Σ = {0, 1}, a language L can be defined as L = {"0", "01", "1010", "011", ...}, which represents a set of binary strings.</a:t>
            </a:r>
          </a:p>
        </p:txBody>
      </p:sp>
    </p:spTree>
    <p:extLst>
      <p:ext uri="{BB962C8B-B14F-4D97-AF65-F5344CB8AC3E}">
        <p14:creationId xmlns:p14="http://schemas.microsoft.com/office/powerpoint/2010/main" val="2848879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77517"/>
            <a:ext cx="8596668" cy="5463846"/>
          </a:xfrm>
        </p:spPr>
        <p:txBody>
          <a:bodyPr/>
          <a:lstStyle/>
          <a:p>
            <a:r>
              <a:rPr lang="en-US" dirty="0"/>
              <a:t>Exercise 1: Given an alphabet Σ = {a, b}, </a:t>
            </a:r>
            <a:r>
              <a:rPr lang="en-US" dirty="0" smtClean="0"/>
              <a:t>generate </a:t>
            </a:r>
            <a:r>
              <a:rPr lang="en-US" dirty="0"/>
              <a:t>strings of various lengths using this alphabet</a:t>
            </a:r>
            <a:r>
              <a:rPr lang="en-US" dirty="0" smtClean="0"/>
              <a:t>. (length = 1; 2; 3)</a:t>
            </a:r>
            <a:endParaRPr lang="en-US" dirty="0"/>
          </a:p>
        </p:txBody>
      </p:sp>
    </p:spTree>
    <p:extLst>
      <p:ext uri="{BB962C8B-B14F-4D97-AF65-F5344CB8AC3E}">
        <p14:creationId xmlns:p14="http://schemas.microsoft.com/office/powerpoint/2010/main" val="1399854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66057"/>
          </a:xfrm>
        </p:spPr>
        <p:txBody>
          <a:bodyPr>
            <a:normAutofit fontScale="90000"/>
          </a:bodyPr>
          <a:lstStyle/>
          <a:p>
            <a:r>
              <a:rPr lang="en-US" dirty="0" smtClean="0"/>
              <a:t>Solution</a:t>
            </a:r>
            <a:endParaRPr lang="en-US" dirty="0"/>
          </a:p>
        </p:txBody>
      </p:sp>
      <p:sp>
        <p:nvSpPr>
          <p:cNvPr id="3" name="Content Placeholder 2"/>
          <p:cNvSpPr>
            <a:spLocks noGrp="1"/>
          </p:cNvSpPr>
          <p:nvPr>
            <p:ph idx="1"/>
          </p:nvPr>
        </p:nvSpPr>
        <p:spPr>
          <a:xfrm>
            <a:off x="677334" y="1474237"/>
            <a:ext cx="8596668" cy="4567125"/>
          </a:xfrm>
        </p:spPr>
        <p:txBody>
          <a:bodyPr/>
          <a:lstStyle/>
          <a:p>
            <a:r>
              <a:rPr lang="en-US" dirty="0" smtClean="0"/>
              <a:t>Length 1</a:t>
            </a:r>
          </a:p>
          <a:p>
            <a:pPr marL="0" indent="0">
              <a:buNone/>
            </a:pPr>
            <a:r>
              <a:rPr lang="en-US" dirty="0" smtClean="0"/>
              <a:t>“a”, “b”</a:t>
            </a:r>
          </a:p>
          <a:p>
            <a:r>
              <a:rPr lang="en-US" dirty="0" smtClean="0"/>
              <a:t>Length 2</a:t>
            </a:r>
          </a:p>
          <a:p>
            <a:pPr marL="0" indent="0">
              <a:buNone/>
            </a:pPr>
            <a:r>
              <a:rPr lang="en-US" dirty="0" smtClean="0"/>
              <a:t>“aa”, “ab”, “</a:t>
            </a:r>
            <a:r>
              <a:rPr lang="en-US" dirty="0" err="1" smtClean="0"/>
              <a:t>ba</a:t>
            </a:r>
            <a:r>
              <a:rPr lang="en-US" dirty="0" smtClean="0"/>
              <a:t>”, “bb”</a:t>
            </a:r>
          </a:p>
          <a:p>
            <a:r>
              <a:rPr lang="en-US" dirty="0" smtClean="0"/>
              <a:t>Length 3</a:t>
            </a:r>
          </a:p>
          <a:p>
            <a:pPr marL="0" indent="0">
              <a:buNone/>
            </a:pPr>
            <a:r>
              <a:rPr lang="en-US" dirty="0" smtClean="0"/>
              <a:t>“</a:t>
            </a:r>
            <a:r>
              <a:rPr lang="en-US" dirty="0" err="1" smtClean="0"/>
              <a:t>aaa</a:t>
            </a:r>
            <a:r>
              <a:rPr lang="en-US" dirty="0" smtClean="0"/>
              <a:t>”, “</a:t>
            </a:r>
            <a:r>
              <a:rPr lang="en-US" dirty="0" err="1" smtClean="0"/>
              <a:t>aab</a:t>
            </a:r>
            <a:r>
              <a:rPr lang="en-US" dirty="0" smtClean="0"/>
              <a:t>”, “aba”, “</a:t>
            </a:r>
            <a:r>
              <a:rPr lang="en-US" dirty="0" err="1" smtClean="0"/>
              <a:t>abb</a:t>
            </a:r>
            <a:r>
              <a:rPr lang="en-US" dirty="0" smtClean="0"/>
              <a:t>”, “baa”, “</a:t>
            </a:r>
            <a:r>
              <a:rPr lang="en-US" dirty="0" err="1" smtClean="0"/>
              <a:t>bab</a:t>
            </a:r>
            <a:r>
              <a:rPr lang="en-US" dirty="0" smtClean="0"/>
              <a:t>”, “</a:t>
            </a:r>
            <a:r>
              <a:rPr lang="en-US" dirty="0" err="1" smtClean="0"/>
              <a:t>bba</a:t>
            </a:r>
            <a:r>
              <a:rPr lang="en-US" dirty="0" smtClean="0"/>
              <a:t>”, “</a:t>
            </a:r>
            <a:r>
              <a:rPr lang="en-US" dirty="0" err="1" smtClean="0"/>
              <a:t>bbb</a:t>
            </a:r>
            <a:r>
              <a:rPr lang="en-US" dirty="0" smtClean="0"/>
              <a:t>”</a:t>
            </a:r>
            <a:endParaRPr lang="en-US" dirty="0"/>
          </a:p>
        </p:txBody>
      </p:sp>
    </p:spTree>
    <p:extLst>
      <p:ext uri="{BB962C8B-B14F-4D97-AF65-F5344CB8AC3E}">
        <p14:creationId xmlns:p14="http://schemas.microsoft.com/office/powerpoint/2010/main" val="2415193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599"/>
            <a:ext cx="8596668" cy="818147"/>
          </a:xfrm>
        </p:spPr>
        <p:txBody>
          <a:bodyPr>
            <a:normAutofit/>
          </a:bodyPr>
          <a:lstStyle/>
          <a:p>
            <a:r>
              <a:rPr lang="en-US" dirty="0" smtClean="0"/>
              <a:t>Operations on Languages</a:t>
            </a:r>
            <a:endParaRPr lang="en-US" dirty="0"/>
          </a:p>
        </p:txBody>
      </p:sp>
      <p:sp>
        <p:nvSpPr>
          <p:cNvPr id="3" name="Content Placeholder 2"/>
          <p:cNvSpPr>
            <a:spLocks noGrp="1"/>
          </p:cNvSpPr>
          <p:nvPr>
            <p:ph idx="1"/>
          </p:nvPr>
        </p:nvSpPr>
        <p:spPr>
          <a:xfrm>
            <a:off x="677334" y="1572126"/>
            <a:ext cx="8596668" cy="4876799"/>
          </a:xfrm>
        </p:spPr>
        <p:txBody>
          <a:bodyPr>
            <a:normAutofit/>
          </a:bodyPr>
          <a:lstStyle/>
          <a:p>
            <a:r>
              <a:rPr lang="en-US" dirty="0" smtClean="0"/>
              <a:t>Union – U</a:t>
            </a:r>
          </a:p>
          <a:p>
            <a:pPr marL="0" indent="0">
              <a:buNone/>
            </a:pPr>
            <a:r>
              <a:rPr lang="en-US" dirty="0"/>
              <a:t>The union of two languages L1 and L2, denoted as L1 ⋃ L2, is the set of strings that are in L1, L2, or both</a:t>
            </a:r>
            <a:r>
              <a:rPr lang="en-US" dirty="0" smtClean="0"/>
              <a:t>.</a:t>
            </a:r>
          </a:p>
          <a:p>
            <a:pPr marL="0" indent="0">
              <a:buNone/>
            </a:pPr>
            <a:r>
              <a:rPr lang="en-US" dirty="0"/>
              <a:t>Formally, L1 ⋃ L2 = {x | x ∈ L1 or x ∈ L2}</a:t>
            </a:r>
            <a:endParaRPr lang="en-US" dirty="0" smtClean="0"/>
          </a:p>
          <a:p>
            <a:r>
              <a:rPr lang="en-US" dirty="0" smtClean="0"/>
              <a:t>Concatenation - .</a:t>
            </a:r>
          </a:p>
          <a:p>
            <a:pPr marL="0" indent="0">
              <a:buNone/>
            </a:pPr>
            <a:r>
              <a:rPr lang="en-US" dirty="0"/>
              <a:t>The concatenation of two languages L1 and L2, denoted as L1 ⋅ L2 or simply L1L2, is the set of strings obtained by concatenating a string from L1 with a string from L2</a:t>
            </a:r>
            <a:r>
              <a:rPr lang="en-US" dirty="0" smtClean="0"/>
              <a:t>.</a:t>
            </a:r>
          </a:p>
          <a:p>
            <a:pPr marL="0" indent="0">
              <a:buNone/>
            </a:pPr>
            <a:r>
              <a:rPr lang="en-US" dirty="0"/>
              <a:t>Formally, L1 ⋅ L2 = {</a:t>
            </a:r>
            <a:r>
              <a:rPr lang="en-US" dirty="0" err="1"/>
              <a:t>xy</a:t>
            </a:r>
            <a:r>
              <a:rPr lang="en-US" dirty="0"/>
              <a:t> | x ∈ L1 and y ∈ L2</a:t>
            </a:r>
            <a:r>
              <a:rPr lang="en-US" dirty="0" smtClean="0"/>
              <a:t>}</a:t>
            </a:r>
          </a:p>
          <a:p>
            <a:r>
              <a:rPr lang="en-US" dirty="0" smtClean="0"/>
              <a:t>Kleene Closure - *</a:t>
            </a:r>
          </a:p>
          <a:p>
            <a:pPr marL="0" indent="0">
              <a:buNone/>
            </a:pPr>
            <a:r>
              <a:rPr lang="en-US" dirty="0"/>
              <a:t>The Kleene closure of a language L, denoted as L*, is the set of all strings that can be obtained by concatenating zero or more strings from L</a:t>
            </a:r>
            <a:r>
              <a:rPr lang="en-US" dirty="0" smtClean="0"/>
              <a:t>.</a:t>
            </a:r>
          </a:p>
          <a:p>
            <a:pPr marL="0" indent="0">
              <a:buNone/>
            </a:pPr>
            <a:r>
              <a:rPr lang="en-US" dirty="0"/>
              <a:t>Formally, L* = {</a:t>
            </a:r>
            <a:r>
              <a:rPr lang="en-US" dirty="0" err="1"/>
              <a:t>x₁x</a:t>
            </a:r>
            <a:r>
              <a:rPr lang="en-US" dirty="0"/>
              <a:t>₂...xₙ | n ≥ 0 and each xᵢ ∈ L for 1 ≤ </a:t>
            </a:r>
            <a:r>
              <a:rPr lang="en-US" dirty="0" err="1"/>
              <a:t>i</a:t>
            </a:r>
            <a:r>
              <a:rPr lang="en-US" dirty="0"/>
              <a:t> ≤ n}</a:t>
            </a:r>
          </a:p>
          <a:p>
            <a:pPr marL="0" indent="0">
              <a:buNone/>
            </a:pPr>
            <a:endParaRPr lang="en-US" dirty="0"/>
          </a:p>
        </p:txBody>
      </p:sp>
    </p:spTree>
    <p:extLst>
      <p:ext uri="{BB962C8B-B14F-4D97-AF65-F5344CB8AC3E}">
        <p14:creationId xmlns:p14="http://schemas.microsoft.com/office/powerpoint/2010/main" val="3924170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93559"/>
            <a:ext cx="8596668" cy="5447804"/>
          </a:xfrm>
        </p:spPr>
        <p:txBody>
          <a:bodyPr/>
          <a:lstStyle/>
          <a:p>
            <a:r>
              <a:rPr lang="en-US" dirty="0"/>
              <a:t>Exercise 2 - Given languages L1 and L2, let's perform the specified operations</a:t>
            </a:r>
            <a:r>
              <a:rPr lang="en-US" dirty="0" smtClean="0"/>
              <a:t>:</a:t>
            </a:r>
          </a:p>
          <a:p>
            <a:r>
              <a:rPr lang="en-US" dirty="0"/>
              <a:t>L1 = {"ab", "c"}</a:t>
            </a:r>
          </a:p>
          <a:p>
            <a:r>
              <a:rPr lang="en-US" dirty="0"/>
              <a:t>L2 = {"a", "</a:t>
            </a:r>
            <a:r>
              <a:rPr lang="en-US" dirty="0" err="1"/>
              <a:t>bc</a:t>
            </a:r>
            <a:r>
              <a:rPr lang="en-US" dirty="0" smtClean="0"/>
              <a:t>"}</a:t>
            </a:r>
          </a:p>
          <a:p>
            <a:r>
              <a:rPr lang="en-US" dirty="0" smtClean="0"/>
              <a:t>Perform – union, concatenation, Kleene closure (on L1)</a:t>
            </a:r>
          </a:p>
          <a:p>
            <a:endParaRPr lang="en-US" dirty="0"/>
          </a:p>
          <a:p>
            <a:pPr marL="0" indent="0">
              <a:buNone/>
            </a:pPr>
            <a:endParaRPr lang="en-US" dirty="0"/>
          </a:p>
        </p:txBody>
      </p:sp>
    </p:spTree>
    <p:extLst>
      <p:ext uri="{BB962C8B-B14F-4D97-AF65-F5344CB8AC3E}">
        <p14:creationId xmlns:p14="http://schemas.microsoft.com/office/powerpoint/2010/main" val="961156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08653"/>
          </a:xfrm>
        </p:spPr>
        <p:txBody>
          <a:bodyPr/>
          <a:lstStyle/>
          <a:p>
            <a:r>
              <a:rPr lang="en-US" dirty="0" smtClean="0"/>
              <a:t>Solution</a:t>
            </a:r>
            <a:endParaRPr lang="en-US" dirty="0"/>
          </a:p>
        </p:txBody>
      </p:sp>
      <p:sp>
        <p:nvSpPr>
          <p:cNvPr id="3" name="Content Placeholder 2"/>
          <p:cNvSpPr>
            <a:spLocks noGrp="1"/>
          </p:cNvSpPr>
          <p:nvPr>
            <p:ph idx="1"/>
          </p:nvPr>
        </p:nvSpPr>
        <p:spPr>
          <a:xfrm>
            <a:off x="677334" y="1530221"/>
            <a:ext cx="8596668" cy="4511142"/>
          </a:xfrm>
        </p:spPr>
        <p:txBody>
          <a:bodyPr/>
          <a:lstStyle/>
          <a:p>
            <a:r>
              <a:rPr lang="en-US" dirty="0" smtClean="0"/>
              <a:t>L1 U L2 = {“ab”, “c”, “a”, “</a:t>
            </a:r>
            <a:r>
              <a:rPr lang="en-US" dirty="0" err="1" smtClean="0"/>
              <a:t>bc</a:t>
            </a:r>
            <a:r>
              <a:rPr lang="en-US" dirty="0" smtClean="0"/>
              <a:t>”}</a:t>
            </a:r>
          </a:p>
          <a:p>
            <a:r>
              <a:rPr lang="en-US" dirty="0" smtClean="0"/>
              <a:t>L1.L2 = {“aba”, “</a:t>
            </a:r>
            <a:r>
              <a:rPr lang="en-US" dirty="0" err="1" smtClean="0"/>
              <a:t>abbc</a:t>
            </a:r>
            <a:r>
              <a:rPr lang="en-US" dirty="0" smtClean="0"/>
              <a:t>”, “ca”, “</a:t>
            </a:r>
            <a:r>
              <a:rPr lang="en-US" dirty="0" err="1" smtClean="0"/>
              <a:t>cbc</a:t>
            </a:r>
            <a:r>
              <a:rPr lang="en-US" dirty="0" smtClean="0"/>
              <a:t>”}</a:t>
            </a:r>
          </a:p>
          <a:p>
            <a:r>
              <a:rPr lang="en-US" dirty="0" smtClean="0"/>
              <a:t>L1* = {</a:t>
            </a:r>
            <a:r>
              <a:rPr lang="el-GR" dirty="0" smtClean="0"/>
              <a:t>ε</a:t>
            </a:r>
            <a:r>
              <a:rPr lang="en-US" dirty="0" smtClean="0"/>
              <a:t>, “ab”, “c”, “</a:t>
            </a:r>
            <a:r>
              <a:rPr lang="en-US" dirty="0" err="1" smtClean="0"/>
              <a:t>abab</a:t>
            </a:r>
            <a:r>
              <a:rPr lang="en-US" dirty="0" smtClean="0"/>
              <a:t>”, “</a:t>
            </a:r>
            <a:r>
              <a:rPr lang="en-US" dirty="0" err="1" smtClean="0"/>
              <a:t>abc</a:t>
            </a:r>
            <a:r>
              <a:rPr lang="en-US" dirty="0" smtClean="0"/>
              <a:t>”, “cab”, “</a:t>
            </a:r>
            <a:r>
              <a:rPr lang="en-US" dirty="0" err="1" smtClean="0"/>
              <a:t>cbc</a:t>
            </a:r>
            <a:r>
              <a:rPr lang="en-US" dirty="0" smtClean="0"/>
              <a:t>”….}</a:t>
            </a:r>
            <a:endParaRPr lang="en-US" dirty="0"/>
          </a:p>
        </p:txBody>
      </p:sp>
    </p:spTree>
    <p:extLst>
      <p:ext uri="{BB962C8B-B14F-4D97-AF65-F5344CB8AC3E}">
        <p14:creationId xmlns:p14="http://schemas.microsoft.com/office/powerpoint/2010/main" val="1582956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18147"/>
          </a:xfrm>
        </p:spPr>
        <p:txBody>
          <a:bodyPr/>
          <a:lstStyle/>
          <a:p>
            <a:r>
              <a:rPr lang="en-US" dirty="0"/>
              <a:t>Operations on </a:t>
            </a:r>
            <a:r>
              <a:rPr lang="en-US" dirty="0" smtClean="0"/>
              <a:t>Languages (continued)</a:t>
            </a:r>
            <a:endParaRPr lang="en-US" dirty="0"/>
          </a:p>
        </p:txBody>
      </p:sp>
      <p:sp>
        <p:nvSpPr>
          <p:cNvPr id="3" name="Content Placeholder 2"/>
          <p:cNvSpPr>
            <a:spLocks noGrp="1"/>
          </p:cNvSpPr>
          <p:nvPr>
            <p:ph idx="1"/>
          </p:nvPr>
        </p:nvSpPr>
        <p:spPr>
          <a:xfrm>
            <a:off x="677334" y="1556085"/>
            <a:ext cx="8596668" cy="4485278"/>
          </a:xfrm>
        </p:spPr>
        <p:txBody>
          <a:bodyPr/>
          <a:lstStyle/>
          <a:p>
            <a:r>
              <a:rPr lang="en-US" b="1" dirty="0"/>
              <a:t>Intersection (∩</a:t>
            </a:r>
            <a:r>
              <a:rPr lang="en-US" b="1" dirty="0" smtClean="0"/>
              <a:t>)</a:t>
            </a:r>
          </a:p>
          <a:p>
            <a:pPr marL="0" indent="0">
              <a:buNone/>
            </a:pPr>
            <a:r>
              <a:rPr lang="en-US" dirty="0"/>
              <a:t>he intersection of two languages L1 and L2, denoted as L1 ∩ L2, is the set of strings that are in both L1 and L2</a:t>
            </a:r>
            <a:r>
              <a:rPr lang="en-US" dirty="0" smtClean="0"/>
              <a:t>.</a:t>
            </a:r>
          </a:p>
          <a:p>
            <a:pPr marL="0" indent="0">
              <a:buNone/>
            </a:pPr>
            <a:r>
              <a:rPr lang="en-US" dirty="0"/>
              <a:t>Formally, L1 ∩ L2 = {x | x ∈ L1 and x ∈ L2</a:t>
            </a:r>
            <a:r>
              <a:rPr lang="en-US" dirty="0" smtClean="0"/>
              <a:t>}</a:t>
            </a:r>
          </a:p>
          <a:p>
            <a:pPr marL="0" indent="0">
              <a:buNone/>
            </a:pPr>
            <a:endParaRPr lang="en-US" dirty="0"/>
          </a:p>
          <a:p>
            <a:r>
              <a:rPr lang="en-US" dirty="0" smtClean="0"/>
              <a:t>Difference (-)</a:t>
            </a:r>
          </a:p>
          <a:p>
            <a:pPr marL="0" indent="0">
              <a:buNone/>
            </a:pPr>
            <a:r>
              <a:rPr lang="en-US" dirty="0"/>
              <a:t>The difference of two languages L1 and L2, denoted as L1 - L2, is the set of strings that are in L1 but not in L2</a:t>
            </a:r>
            <a:r>
              <a:rPr lang="en-US" dirty="0" smtClean="0"/>
              <a:t>.</a:t>
            </a:r>
          </a:p>
          <a:p>
            <a:pPr marL="0" indent="0">
              <a:buNone/>
            </a:pPr>
            <a:r>
              <a:rPr lang="en-US" dirty="0"/>
              <a:t>Formally, L1 - L2 = {x | x ∈ L1 and x ∉ L2}</a:t>
            </a:r>
          </a:p>
        </p:txBody>
      </p:sp>
    </p:spTree>
    <p:extLst>
      <p:ext uri="{BB962C8B-B14F-4D97-AF65-F5344CB8AC3E}">
        <p14:creationId xmlns:p14="http://schemas.microsoft.com/office/powerpoint/2010/main" val="1910702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30442"/>
          </a:xfrm>
        </p:spPr>
        <p:txBody>
          <a:bodyPr/>
          <a:lstStyle/>
          <a:p>
            <a:r>
              <a:rPr lang="en-US" dirty="0" smtClean="0"/>
              <a:t>Regular Expressions - Regex</a:t>
            </a:r>
            <a:endParaRPr lang="en-US" dirty="0"/>
          </a:p>
        </p:txBody>
      </p:sp>
      <p:sp>
        <p:nvSpPr>
          <p:cNvPr id="3" name="Content Placeholder 2"/>
          <p:cNvSpPr>
            <a:spLocks noGrp="1"/>
          </p:cNvSpPr>
          <p:nvPr>
            <p:ph idx="1"/>
          </p:nvPr>
        </p:nvSpPr>
        <p:spPr>
          <a:xfrm>
            <a:off x="677334" y="1716505"/>
            <a:ext cx="8596668" cy="4324857"/>
          </a:xfrm>
        </p:spPr>
        <p:txBody>
          <a:bodyPr/>
          <a:lstStyle/>
          <a:p>
            <a:pPr algn="just"/>
            <a:r>
              <a:rPr lang="en-US" dirty="0"/>
              <a:t>A regular language is a type of formal language that can be precisely described using a regular expression, a finite automaton (e.g., deterministic finite automaton or nondeterministic finite automaton), or any equivalent formalism. These languages are fundamental in the field of formal language theory and automata theory</a:t>
            </a:r>
            <a:r>
              <a:rPr lang="en-US" dirty="0" smtClean="0"/>
              <a:t>.</a:t>
            </a:r>
          </a:p>
          <a:p>
            <a:pPr algn="just"/>
            <a:r>
              <a:rPr lang="en-US" dirty="0"/>
              <a:t>A regular expression is a compact and formalized way of representing a regular language</a:t>
            </a:r>
            <a:r>
              <a:rPr lang="en-US" dirty="0" smtClean="0"/>
              <a:t>.</a:t>
            </a:r>
          </a:p>
          <a:p>
            <a:pPr algn="just"/>
            <a:r>
              <a:rPr lang="en-US" dirty="0"/>
              <a:t>It's a sequence of characters that defines a search pattern for strings. The pattern can include operators and characters, specifying rules to match strings.</a:t>
            </a:r>
          </a:p>
        </p:txBody>
      </p:sp>
    </p:spTree>
    <p:extLst>
      <p:ext uri="{BB962C8B-B14F-4D97-AF65-F5344CB8AC3E}">
        <p14:creationId xmlns:p14="http://schemas.microsoft.com/office/powerpoint/2010/main" val="3799312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73769"/>
            <a:ext cx="8596668" cy="5367594"/>
          </a:xfrm>
        </p:spPr>
        <p:txBody>
          <a:bodyPr/>
          <a:lstStyle/>
          <a:p>
            <a:pPr marL="0" indent="0">
              <a:buNone/>
            </a:pPr>
            <a:r>
              <a:rPr lang="en-US" dirty="0"/>
              <a:t>Common operators in regular expressions include</a:t>
            </a:r>
            <a:r>
              <a:rPr lang="en-US" dirty="0" smtClean="0"/>
              <a:t>:</a:t>
            </a:r>
          </a:p>
          <a:p>
            <a:r>
              <a:rPr lang="en-US" dirty="0"/>
              <a:t>| (alternation): Represents a choice between two alternatives.</a:t>
            </a:r>
          </a:p>
          <a:p>
            <a:r>
              <a:rPr lang="en-US" dirty="0"/>
              <a:t>* (Kleene star): Denotes zero or more occurrences of the preceding element.</a:t>
            </a:r>
          </a:p>
          <a:p>
            <a:r>
              <a:rPr lang="en-US" dirty="0"/>
              <a:t>+ (Kleene plus): Denotes one or more occurrences of the preceding element.</a:t>
            </a:r>
          </a:p>
          <a:p>
            <a:r>
              <a:rPr lang="en-US" dirty="0"/>
              <a:t>? (optional): Denotes zero or one occurrence of the preceding element.</a:t>
            </a:r>
          </a:p>
          <a:p>
            <a:r>
              <a:rPr lang="en-US" dirty="0"/>
              <a:t>() (grouping): Groups expressions together</a:t>
            </a:r>
            <a:r>
              <a:rPr lang="en-US" dirty="0" smtClean="0"/>
              <a:t>.</a:t>
            </a:r>
          </a:p>
          <a:p>
            <a:endParaRPr lang="en-US" dirty="0" smtClean="0"/>
          </a:p>
          <a:p>
            <a:r>
              <a:rPr lang="en-US" dirty="0" smtClean="0"/>
              <a:t>Example</a:t>
            </a:r>
          </a:p>
          <a:p>
            <a:pPr marL="0" indent="0">
              <a:buNone/>
            </a:pPr>
            <a:r>
              <a:rPr lang="en-US" dirty="0"/>
              <a:t>Regular Expression: a(</a:t>
            </a:r>
            <a:r>
              <a:rPr lang="en-US" dirty="0" err="1"/>
              <a:t>b|c</a:t>
            </a:r>
            <a:r>
              <a:rPr lang="en-US" dirty="0"/>
              <a:t>)*</a:t>
            </a:r>
          </a:p>
          <a:p>
            <a:pPr marL="0" indent="0">
              <a:buNone/>
            </a:pPr>
            <a:r>
              <a:rPr lang="en-US" dirty="0"/>
              <a:t>Description: Represents strings that start with 'a' followed by zero or more occurrences of either 'b' or 'c'.</a:t>
            </a:r>
          </a:p>
        </p:txBody>
      </p:sp>
    </p:spTree>
    <p:extLst>
      <p:ext uri="{BB962C8B-B14F-4D97-AF65-F5344CB8AC3E}">
        <p14:creationId xmlns:p14="http://schemas.microsoft.com/office/powerpoint/2010/main" val="3325464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155032"/>
          </a:xfrm>
        </p:spPr>
        <p:txBody>
          <a:bodyPr>
            <a:normAutofit fontScale="90000"/>
          </a:bodyPr>
          <a:lstStyle/>
          <a:p>
            <a:r>
              <a:rPr lang="en-US" b="1" dirty="0"/>
              <a:t>Introduction to Finite Automata (DFA, NFA, </a:t>
            </a:r>
            <a:r>
              <a:rPr lang="el-GR" b="1" dirty="0"/>
              <a:t>ε-</a:t>
            </a:r>
            <a:r>
              <a:rPr lang="en-US" b="1" dirty="0"/>
              <a:t>NFA)</a:t>
            </a:r>
            <a:br>
              <a:rPr lang="en-US" b="1" dirty="0"/>
            </a:br>
            <a:endParaRPr lang="en-US" dirty="0"/>
          </a:p>
        </p:txBody>
      </p:sp>
      <p:sp>
        <p:nvSpPr>
          <p:cNvPr id="3" name="Content Placeholder 2"/>
          <p:cNvSpPr>
            <a:spLocks noGrp="1"/>
          </p:cNvSpPr>
          <p:nvPr>
            <p:ph idx="1"/>
          </p:nvPr>
        </p:nvSpPr>
        <p:spPr/>
        <p:txBody>
          <a:bodyPr/>
          <a:lstStyle/>
          <a:p>
            <a:r>
              <a:rPr lang="en-US" dirty="0" smtClean="0"/>
              <a:t>Finite Automata</a:t>
            </a:r>
          </a:p>
          <a:p>
            <a:pPr marL="0" indent="0">
              <a:buNone/>
            </a:pPr>
            <a:r>
              <a:rPr lang="en-US" dirty="0"/>
              <a:t>A finite automaton is a mathematical model used to recognize languages, specifically regular languages.</a:t>
            </a:r>
          </a:p>
          <a:p>
            <a:pPr marL="0" indent="0">
              <a:buNone/>
            </a:pPr>
            <a:r>
              <a:rPr lang="en-US" dirty="0"/>
              <a:t>It operates on an input string and processes one symbol at a time to determine if the string is in the language or not.</a:t>
            </a:r>
          </a:p>
          <a:p>
            <a:pPr marL="0" indent="0">
              <a:buNone/>
            </a:pPr>
            <a:r>
              <a:rPr lang="en-US" dirty="0"/>
              <a:t>It consists of states, a finite set of input symbols (alphabet), transition functions, an initial state, and a set of accepting/final states.</a:t>
            </a:r>
          </a:p>
        </p:txBody>
      </p:sp>
    </p:spTree>
    <p:extLst>
      <p:ext uri="{BB962C8B-B14F-4D97-AF65-F5344CB8AC3E}">
        <p14:creationId xmlns:p14="http://schemas.microsoft.com/office/powerpoint/2010/main" val="2365671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57727"/>
            <a:ext cx="8596668" cy="5383636"/>
          </a:xfrm>
        </p:spPr>
        <p:txBody>
          <a:bodyPr/>
          <a:lstStyle/>
          <a:p>
            <a:pPr algn="just"/>
            <a:r>
              <a:rPr lang="en-US" dirty="0" smtClean="0"/>
              <a:t>Deterministic Finite Automation</a:t>
            </a:r>
          </a:p>
          <a:p>
            <a:pPr marL="0" indent="0" algn="just">
              <a:buNone/>
            </a:pPr>
            <a:r>
              <a:rPr lang="en-US" dirty="0"/>
              <a:t>A DFA is a finite automaton where for each state and input symbol, there is exactly one possible transition.</a:t>
            </a:r>
          </a:p>
          <a:p>
            <a:pPr marL="0" indent="0" algn="just">
              <a:buNone/>
            </a:pPr>
            <a:r>
              <a:rPr lang="en-US" dirty="0"/>
              <a:t>It accepts or rejects a string based on the transitions it follows and whether it ends in an accepting state</a:t>
            </a:r>
            <a:r>
              <a:rPr lang="en-US" dirty="0" smtClean="0"/>
              <a:t>.</a:t>
            </a:r>
          </a:p>
          <a:p>
            <a:pPr algn="just"/>
            <a:r>
              <a:rPr lang="en-US" dirty="0" smtClean="0"/>
              <a:t>Nondeterministic Finite Automation</a:t>
            </a:r>
          </a:p>
          <a:p>
            <a:pPr marL="0" indent="0" algn="just">
              <a:buNone/>
            </a:pPr>
            <a:r>
              <a:rPr lang="en-US" dirty="0"/>
              <a:t>An NFA is a finite automaton where for a state and input symbol, there can be multiple possible transitions.</a:t>
            </a:r>
          </a:p>
          <a:p>
            <a:pPr marL="0" indent="0" algn="just">
              <a:buNone/>
            </a:pPr>
            <a:r>
              <a:rPr lang="en-US" dirty="0"/>
              <a:t>It accepts a string if there exists at least one path of transitions that leads to an accepting state</a:t>
            </a:r>
            <a:r>
              <a:rPr lang="en-US" dirty="0" smtClean="0"/>
              <a:t>.</a:t>
            </a:r>
          </a:p>
          <a:p>
            <a:pPr algn="just"/>
            <a:r>
              <a:rPr lang="el-GR" dirty="0"/>
              <a:t>ε-</a:t>
            </a:r>
            <a:r>
              <a:rPr lang="en-US" dirty="0"/>
              <a:t>Nondeterministic Finite </a:t>
            </a:r>
            <a:r>
              <a:rPr lang="en-US" dirty="0" smtClean="0"/>
              <a:t>Automaton</a:t>
            </a:r>
          </a:p>
          <a:p>
            <a:pPr marL="0" indent="0" algn="just">
              <a:buNone/>
            </a:pPr>
            <a:r>
              <a:rPr lang="en-US" dirty="0"/>
              <a:t>An extension of NFA where ε-transitions (transitions without consuming input) are allowed.</a:t>
            </a:r>
          </a:p>
          <a:p>
            <a:pPr marL="0" indent="0" algn="just">
              <a:buNone/>
            </a:pPr>
            <a:r>
              <a:rPr lang="en-US" dirty="0"/>
              <a:t>ε-NFAs can transition to a new state without reading any input symbol.</a:t>
            </a:r>
          </a:p>
        </p:txBody>
      </p:sp>
    </p:spTree>
    <p:extLst>
      <p:ext uri="{BB962C8B-B14F-4D97-AF65-F5344CB8AC3E}">
        <p14:creationId xmlns:p14="http://schemas.microsoft.com/office/powerpoint/2010/main" val="3083104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18147"/>
          </a:xfrm>
        </p:spPr>
        <p:txBody>
          <a:bodyPr/>
          <a:lstStyle/>
          <a:p>
            <a:r>
              <a:rPr lang="en-US" dirty="0" smtClean="0"/>
              <a:t>Mathematical Theory of Finite Automata</a:t>
            </a:r>
            <a:endParaRPr lang="en-US" dirty="0"/>
          </a:p>
        </p:txBody>
      </p:sp>
      <p:pic>
        <p:nvPicPr>
          <p:cNvPr id="4" name="Content Placeholder 3">
            <a:extLst>
              <a:ext uri="{FF2B5EF4-FFF2-40B4-BE49-F238E27FC236}">
                <a16:creationId xmlns:a16="http://schemas.microsoft.com/office/drawing/2014/main" id="{A3F8527E-1D49-47BB-8C1F-844A35D986AB}"/>
              </a:ext>
            </a:extLst>
          </p:cNvPr>
          <p:cNvPicPr>
            <a:picLocks noGrp="1" noChangeAspect="1"/>
          </p:cNvPicPr>
          <p:nvPr>
            <p:ph idx="1"/>
          </p:nvPr>
        </p:nvPicPr>
        <p:blipFill>
          <a:blip r:embed="rId2"/>
          <a:stretch>
            <a:fillRect/>
          </a:stretch>
        </p:blipFill>
        <p:spPr>
          <a:xfrm>
            <a:off x="677334" y="1780674"/>
            <a:ext cx="9127455" cy="3721768"/>
          </a:xfrm>
          <a:prstGeom prst="rect">
            <a:avLst/>
          </a:prstGeom>
        </p:spPr>
      </p:pic>
    </p:spTree>
    <p:extLst>
      <p:ext uri="{BB962C8B-B14F-4D97-AF65-F5344CB8AC3E}">
        <p14:creationId xmlns:p14="http://schemas.microsoft.com/office/powerpoint/2010/main" val="3358635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93559"/>
            <a:ext cx="8596668" cy="5447804"/>
          </a:xfrm>
        </p:spPr>
        <p:txBody>
          <a:bodyPr/>
          <a:lstStyle/>
          <a:p>
            <a:pPr algn="just"/>
            <a:r>
              <a:rPr lang="en-US" dirty="0"/>
              <a:t>Exercise 3 - Suppose that the alphabet is { 0,1 } and that the language consists of all strings with an odd number of 1s. You want to construct a finite automaton E1 to recognize this language</a:t>
            </a:r>
          </a:p>
        </p:txBody>
      </p:sp>
    </p:spTree>
    <p:extLst>
      <p:ext uri="{BB962C8B-B14F-4D97-AF65-F5344CB8AC3E}">
        <p14:creationId xmlns:p14="http://schemas.microsoft.com/office/powerpoint/2010/main" val="3601418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09600"/>
          </a:xfrm>
        </p:spPr>
        <p:txBody>
          <a:bodyPr>
            <a:normAutofit fontScale="90000"/>
          </a:bodyPr>
          <a:lstStyle/>
          <a:p>
            <a:r>
              <a:rPr lang="en-US" dirty="0" smtClean="0"/>
              <a:t>Solution</a:t>
            </a:r>
            <a:endParaRPr lang="en-US" dirty="0"/>
          </a:p>
        </p:txBody>
      </p:sp>
      <p:sp>
        <p:nvSpPr>
          <p:cNvPr id="3" name="Content Placeholder 2"/>
          <p:cNvSpPr>
            <a:spLocks noGrp="1"/>
          </p:cNvSpPr>
          <p:nvPr>
            <p:ph idx="1"/>
          </p:nvPr>
        </p:nvSpPr>
        <p:spPr>
          <a:xfrm>
            <a:off x="677334" y="1459833"/>
            <a:ext cx="8596668" cy="4581530"/>
          </a:xfrm>
        </p:spPr>
        <p:txBody>
          <a:bodyPr/>
          <a:lstStyle/>
          <a:p>
            <a:pPr marL="0" indent="0" algn="just">
              <a:buNone/>
            </a:pPr>
            <a:r>
              <a:rPr lang="en-US" dirty="0"/>
              <a:t>Do you need to remember the entire string seen so far in order to determine whether the number of 1s is odd? Of course not. Simply remember whether the number of 1s seen so far is even or odd and keep track of this information as you read new symbols. If you read a 1, flip the answer, but if you read a 0, leave the answer as is. </a:t>
            </a:r>
          </a:p>
          <a:p>
            <a:pPr marL="0" indent="0" algn="just">
              <a:buNone/>
            </a:pPr>
            <a:r>
              <a:rPr lang="en-US" dirty="0"/>
              <a:t>But how does this help you design E1 ? Once you have determined the necessary information to remember about the string as it is being read, you represent this information as a finite list of possibilities. In this instance, the possibilities would be </a:t>
            </a:r>
          </a:p>
          <a:p>
            <a:pPr marL="0" indent="0" algn="just">
              <a:buNone/>
            </a:pPr>
            <a:r>
              <a:rPr lang="en-US" dirty="0"/>
              <a:t>»1. even so far, and </a:t>
            </a:r>
          </a:p>
          <a:p>
            <a:pPr marL="0" indent="0" algn="just">
              <a:buNone/>
            </a:pPr>
            <a:r>
              <a:rPr lang="en-US" dirty="0"/>
              <a:t>»2. odd so far. </a:t>
            </a:r>
          </a:p>
          <a:p>
            <a:pPr marL="0" indent="0" algn="just">
              <a:buNone/>
            </a:pPr>
            <a:endParaRPr lang="en-US" dirty="0"/>
          </a:p>
        </p:txBody>
      </p:sp>
    </p:spTree>
    <p:extLst>
      <p:ext uri="{BB962C8B-B14F-4D97-AF65-F5344CB8AC3E}">
        <p14:creationId xmlns:p14="http://schemas.microsoft.com/office/powerpoint/2010/main" val="1643698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737937"/>
            <a:ext cx="8596668" cy="5303425"/>
          </a:xfrm>
        </p:spPr>
        <p:txBody>
          <a:bodyPr/>
          <a:lstStyle/>
          <a:p>
            <a:pPr marL="0" indent="0">
              <a:buNone/>
            </a:pPr>
            <a:endParaRPr lang="en-US" dirty="0"/>
          </a:p>
          <a:p>
            <a:pPr marL="0" indent="0">
              <a:buNone/>
            </a:pPr>
            <a:endParaRPr lang="en-US" dirty="0"/>
          </a:p>
        </p:txBody>
      </p:sp>
      <p:sp>
        <p:nvSpPr>
          <p:cNvPr id="5" name="Content Placeholder 2"/>
          <p:cNvSpPr txBox="1">
            <a:spLocks/>
          </p:cNvSpPr>
          <p:nvPr/>
        </p:nvSpPr>
        <p:spPr>
          <a:xfrm>
            <a:off x="381000" y="609600"/>
            <a:ext cx="8382000" cy="58674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dirty="0" smtClean="0"/>
              <a:t>Then you assign a state to each of the possibilities. These are the states of </a:t>
            </a:r>
            <a:r>
              <a:rPr lang="en-US" i="1" dirty="0" smtClean="0"/>
              <a:t>E1 , </a:t>
            </a:r>
            <a:r>
              <a:rPr lang="en-US" dirty="0" smtClean="0"/>
              <a:t>as shown here. </a:t>
            </a:r>
          </a:p>
          <a:p>
            <a:endParaRPr lang="en-US" dirty="0" smtClean="0"/>
          </a:p>
          <a:p>
            <a:r>
              <a:rPr lang="en-US" b="1" dirty="0" smtClean="0"/>
              <a:t>Step1 </a:t>
            </a:r>
          </a:p>
          <a:p>
            <a:endParaRPr lang="en-US" b="1" dirty="0" smtClean="0"/>
          </a:p>
          <a:p>
            <a:pPr marL="0" indent="0">
              <a:buFont typeface="Wingdings 3" charset="2"/>
              <a:buNone/>
            </a:pPr>
            <a:endParaRPr lang="en-US" dirty="0" smtClean="0"/>
          </a:p>
          <a:p>
            <a:pPr marL="0" indent="0">
              <a:buNone/>
            </a:pPr>
            <a:r>
              <a:rPr lang="en-US" dirty="0" smtClean="0"/>
              <a:t>Next, you assign the transitions by seeing how to go from one possibility to another upon reading a symbol. So, if state </a:t>
            </a:r>
            <a:r>
              <a:rPr lang="en-US" i="1" dirty="0" err="1" smtClean="0"/>
              <a:t>qeven</a:t>
            </a:r>
            <a:r>
              <a:rPr lang="en-US" i="1" dirty="0" smtClean="0"/>
              <a:t> </a:t>
            </a:r>
            <a:r>
              <a:rPr lang="en-US" dirty="0" smtClean="0"/>
              <a:t>represents the even possibility and state </a:t>
            </a:r>
            <a:r>
              <a:rPr lang="en-US" i="1" dirty="0" err="1" smtClean="0"/>
              <a:t>qodd</a:t>
            </a:r>
            <a:r>
              <a:rPr lang="en-US" i="1" dirty="0" smtClean="0"/>
              <a:t> </a:t>
            </a:r>
            <a:r>
              <a:rPr lang="en-US" dirty="0" smtClean="0"/>
              <a:t>represents the odd possibility, you would set the transitions to flip state on a 1 and stay put on a 0, as shown here. </a:t>
            </a:r>
          </a:p>
          <a:p>
            <a:endParaRPr lang="en-US" dirty="0" smtClean="0"/>
          </a:p>
          <a:p>
            <a:r>
              <a:rPr lang="en-US" b="1" dirty="0" smtClean="0"/>
              <a:t>Step2 </a:t>
            </a:r>
            <a:endParaRPr lang="en-US" dirty="0"/>
          </a:p>
        </p:txBody>
      </p:sp>
      <p:pic>
        <p:nvPicPr>
          <p:cNvPr id="6" name="Picture 5">
            <a:extLst>
              <a:ext uri="{FF2B5EF4-FFF2-40B4-BE49-F238E27FC236}">
                <a16:creationId xmlns:a16="http://schemas.microsoft.com/office/drawing/2014/main" id="{53311EAD-7F2D-4955-88AD-CC4E1ED173C9}"/>
              </a:ext>
            </a:extLst>
          </p:cNvPr>
          <p:cNvPicPr>
            <a:picLocks noChangeAspect="1"/>
          </p:cNvPicPr>
          <p:nvPr/>
        </p:nvPicPr>
        <p:blipFill>
          <a:blip r:embed="rId2"/>
          <a:stretch>
            <a:fillRect/>
          </a:stretch>
        </p:blipFill>
        <p:spPr>
          <a:xfrm>
            <a:off x="3200400" y="1524000"/>
            <a:ext cx="2362200" cy="1102074"/>
          </a:xfrm>
          <a:prstGeom prst="rect">
            <a:avLst/>
          </a:prstGeom>
        </p:spPr>
      </p:pic>
      <p:pic>
        <p:nvPicPr>
          <p:cNvPr id="7" name="Picture 6">
            <a:extLst>
              <a:ext uri="{FF2B5EF4-FFF2-40B4-BE49-F238E27FC236}">
                <a16:creationId xmlns:a16="http://schemas.microsoft.com/office/drawing/2014/main" id="{5179B171-C408-4FA8-8F4C-D6ABAC69EFBC}"/>
              </a:ext>
            </a:extLst>
          </p:cNvPr>
          <p:cNvPicPr>
            <a:picLocks noChangeAspect="1"/>
          </p:cNvPicPr>
          <p:nvPr/>
        </p:nvPicPr>
        <p:blipFill>
          <a:blip r:embed="rId3"/>
          <a:stretch>
            <a:fillRect/>
          </a:stretch>
        </p:blipFill>
        <p:spPr>
          <a:xfrm>
            <a:off x="3200400" y="2468564"/>
            <a:ext cx="2261185" cy="315019"/>
          </a:xfrm>
          <a:prstGeom prst="rect">
            <a:avLst/>
          </a:prstGeom>
        </p:spPr>
      </p:pic>
      <p:pic>
        <p:nvPicPr>
          <p:cNvPr id="8" name="Picture 7">
            <a:extLst>
              <a:ext uri="{FF2B5EF4-FFF2-40B4-BE49-F238E27FC236}">
                <a16:creationId xmlns:a16="http://schemas.microsoft.com/office/drawing/2014/main" id="{D0CA6D48-8004-48D1-A47F-6C9F099ECDCE}"/>
              </a:ext>
            </a:extLst>
          </p:cNvPr>
          <p:cNvPicPr>
            <a:picLocks noChangeAspect="1"/>
          </p:cNvPicPr>
          <p:nvPr/>
        </p:nvPicPr>
        <p:blipFill>
          <a:blip r:embed="rId4"/>
          <a:stretch>
            <a:fillRect/>
          </a:stretch>
        </p:blipFill>
        <p:spPr>
          <a:xfrm>
            <a:off x="3041101" y="4476479"/>
            <a:ext cx="3061798" cy="1432467"/>
          </a:xfrm>
          <a:prstGeom prst="rect">
            <a:avLst/>
          </a:prstGeom>
        </p:spPr>
      </p:pic>
      <p:pic>
        <p:nvPicPr>
          <p:cNvPr id="9" name="Picture 8">
            <a:extLst>
              <a:ext uri="{FF2B5EF4-FFF2-40B4-BE49-F238E27FC236}">
                <a16:creationId xmlns:a16="http://schemas.microsoft.com/office/drawing/2014/main" id="{4C980C2C-80D0-4360-8AC4-382636F668DC}"/>
              </a:ext>
            </a:extLst>
          </p:cNvPr>
          <p:cNvPicPr>
            <a:picLocks noChangeAspect="1"/>
          </p:cNvPicPr>
          <p:nvPr/>
        </p:nvPicPr>
        <p:blipFill>
          <a:blip r:embed="rId5"/>
          <a:stretch>
            <a:fillRect/>
          </a:stretch>
        </p:blipFill>
        <p:spPr>
          <a:xfrm>
            <a:off x="2588392" y="5980837"/>
            <a:ext cx="3967216" cy="278559"/>
          </a:xfrm>
          <a:prstGeom prst="rect">
            <a:avLst/>
          </a:prstGeom>
        </p:spPr>
      </p:pic>
    </p:spTree>
    <p:extLst>
      <p:ext uri="{BB962C8B-B14F-4D97-AF65-F5344CB8AC3E}">
        <p14:creationId xmlns:p14="http://schemas.microsoft.com/office/powerpoint/2010/main" val="1380641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874294" y="339658"/>
            <a:ext cx="8229600" cy="48768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dirty="0" smtClean="0"/>
              <a:t>Next, you set the start state to be the state corresponding to the possibility associated with having seen 0 symbols so far (the empty string </a:t>
            </a:r>
            <a:r>
              <a:rPr lang="en-US" b="1" dirty="0" smtClean="0"/>
              <a:t>E). </a:t>
            </a:r>
            <a:r>
              <a:rPr lang="en-US" dirty="0" smtClean="0"/>
              <a:t>In this case the start state corresponds to state </a:t>
            </a:r>
            <a:r>
              <a:rPr lang="en-US" i="1" dirty="0" err="1" smtClean="0"/>
              <a:t>qeven</a:t>
            </a:r>
            <a:r>
              <a:rPr lang="en-US" i="1" dirty="0" smtClean="0"/>
              <a:t> </a:t>
            </a:r>
            <a:r>
              <a:rPr lang="en-US" dirty="0" smtClean="0"/>
              <a:t>because 0 is an even number. Last, set the accept states to be those corresponding to possibilities where you want to accept the input string. Set </a:t>
            </a:r>
            <a:r>
              <a:rPr lang="en-US" i="1" dirty="0" err="1" smtClean="0"/>
              <a:t>qodd</a:t>
            </a:r>
            <a:r>
              <a:rPr lang="en-US" i="1" dirty="0" smtClean="0"/>
              <a:t> </a:t>
            </a:r>
            <a:r>
              <a:rPr lang="en-US" dirty="0" smtClean="0"/>
              <a:t>to be an accept state because you want to accept when you have seen an odd number of 1s. These additions are shown in the following figure. </a:t>
            </a:r>
            <a:endParaRPr lang="en-US" dirty="0"/>
          </a:p>
        </p:txBody>
      </p:sp>
      <p:pic>
        <p:nvPicPr>
          <p:cNvPr id="6" name="Picture 5">
            <a:extLst>
              <a:ext uri="{FF2B5EF4-FFF2-40B4-BE49-F238E27FC236}">
                <a16:creationId xmlns:a16="http://schemas.microsoft.com/office/drawing/2014/main" id="{254F22D6-4CE5-4797-AE40-8AD76FE20F64}"/>
              </a:ext>
            </a:extLst>
          </p:cNvPr>
          <p:cNvPicPr>
            <a:picLocks noChangeAspect="1"/>
          </p:cNvPicPr>
          <p:nvPr/>
        </p:nvPicPr>
        <p:blipFill>
          <a:blip r:embed="rId2"/>
          <a:stretch>
            <a:fillRect/>
          </a:stretch>
        </p:blipFill>
        <p:spPr>
          <a:xfrm>
            <a:off x="3272589" y="2299670"/>
            <a:ext cx="3657600" cy="2042091"/>
          </a:xfrm>
          <a:prstGeom prst="rect">
            <a:avLst/>
          </a:prstGeom>
        </p:spPr>
      </p:pic>
      <p:pic>
        <p:nvPicPr>
          <p:cNvPr id="7" name="Picture 6">
            <a:extLst>
              <a:ext uri="{FF2B5EF4-FFF2-40B4-BE49-F238E27FC236}">
                <a16:creationId xmlns:a16="http://schemas.microsoft.com/office/drawing/2014/main" id="{626E36F6-7914-4B6F-A0B0-7EC2D7413FDC}"/>
              </a:ext>
            </a:extLst>
          </p:cNvPr>
          <p:cNvPicPr>
            <a:picLocks noChangeAspect="1"/>
          </p:cNvPicPr>
          <p:nvPr/>
        </p:nvPicPr>
        <p:blipFill>
          <a:blip r:embed="rId3"/>
          <a:stretch>
            <a:fillRect/>
          </a:stretch>
        </p:blipFill>
        <p:spPr>
          <a:xfrm>
            <a:off x="3240504" y="4341761"/>
            <a:ext cx="3383138" cy="328965"/>
          </a:xfrm>
          <a:prstGeom prst="rect">
            <a:avLst/>
          </a:prstGeom>
        </p:spPr>
      </p:pic>
    </p:spTree>
    <p:extLst>
      <p:ext uri="{BB962C8B-B14F-4D97-AF65-F5344CB8AC3E}">
        <p14:creationId xmlns:p14="http://schemas.microsoft.com/office/powerpoint/2010/main" val="3678050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569495" y="601041"/>
            <a:ext cx="8229600" cy="48768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smtClean="0"/>
              <a:t>Step1</a:t>
            </a:r>
          </a:p>
          <a:p>
            <a:endParaRPr lang="en-US" b="1" smtClean="0"/>
          </a:p>
          <a:p>
            <a:endParaRPr lang="en-US" b="1" smtClean="0"/>
          </a:p>
          <a:p>
            <a:endParaRPr lang="en-US" smtClean="0"/>
          </a:p>
          <a:p>
            <a:endParaRPr lang="en-US" smtClean="0"/>
          </a:p>
          <a:p>
            <a:r>
              <a:rPr lang="en-US" b="1" smtClean="0"/>
              <a:t>Step2 	</a:t>
            </a:r>
            <a:endParaRPr lang="en-US" smtClean="0"/>
          </a:p>
          <a:p>
            <a:endParaRPr lang="en-US" b="1" smtClean="0"/>
          </a:p>
          <a:p>
            <a:endParaRPr lang="en-US" b="1" smtClean="0"/>
          </a:p>
          <a:p>
            <a:endParaRPr lang="en-US" smtClean="0"/>
          </a:p>
          <a:p>
            <a:endParaRPr lang="en-US" smtClean="0"/>
          </a:p>
          <a:p>
            <a:r>
              <a:rPr lang="en-US" b="1" smtClean="0"/>
              <a:t>Step3 </a:t>
            </a:r>
            <a:endParaRPr lang="en-US" smtClean="0"/>
          </a:p>
          <a:p>
            <a:endParaRPr lang="en-US" smtClean="0"/>
          </a:p>
          <a:p>
            <a:pPr marL="0" indent="0">
              <a:buFont typeface="Wingdings 3" charset="2"/>
              <a:buNone/>
            </a:pPr>
            <a:endParaRPr lang="en-US" dirty="0">
              <a:solidFill>
                <a:srgbClr val="00B050"/>
              </a:solidFill>
            </a:endParaRPr>
          </a:p>
        </p:txBody>
      </p:sp>
      <p:pic>
        <p:nvPicPr>
          <p:cNvPr id="5" name="Picture 4">
            <a:extLst>
              <a:ext uri="{FF2B5EF4-FFF2-40B4-BE49-F238E27FC236}">
                <a16:creationId xmlns:a16="http://schemas.microsoft.com/office/drawing/2014/main" id="{B978C055-B321-4533-9364-BF4826E253E3}"/>
              </a:ext>
            </a:extLst>
          </p:cNvPr>
          <p:cNvPicPr>
            <a:picLocks noChangeAspect="1"/>
          </p:cNvPicPr>
          <p:nvPr/>
        </p:nvPicPr>
        <p:blipFill>
          <a:blip r:embed="rId2"/>
          <a:stretch>
            <a:fillRect/>
          </a:stretch>
        </p:blipFill>
        <p:spPr>
          <a:xfrm>
            <a:off x="2102984" y="1136096"/>
            <a:ext cx="2133600" cy="995422"/>
          </a:xfrm>
          <a:prstGeom prst="rect">
            <a:avLst/>
          </a:prstGeom>
        </p:spPr>
      </p:pic>
      <p:pic>
        <p:nvPicPr>
          <p:cNvPr id="6" name="Picture 5">
            <a:extLst>
              <a:ext uri="{FF2B5EF4-FFF2-40B4-BE49-F238E27FC236}">
                <a16:creationId xmlns:a16="http://schemas.microsoft.com/office/drawing/2014/main" id="{4DEA2D45-82CC-4768-A323-66428DE0ADEC}"/>
              </a:ext>
            </a:extLst>
          </p:cNvPr>
          <p:cNvPicPr>
            <a:picLocks noChangeAspect="1"/>
          </p:cNvPicPr>
          <p:nvPr/>
        </p:nvPicPr>
        <p:blipFill>
          <a:blip r:embed="rId3"/>
          <a:stretch>
            <a:fillRect/>
          </a:stretch>
        </p:blipFill>
        <p:spPr>
          <a:xfrm>
            <a:off x="2196872" y="2570748"/>
            <a:ext cx="2697616" cy="1544409"/>
          </a:xfrm>
          <a:prstGeom prst="rect">
            <a:avLst/>
          </a:prstGeom>
        </p:spPr>
      </p:pic>
      <p:pic>
        <p:nvPicPr>
          <p:cNvPr id="7" name="Picture 6">
            <a:extLst>
              <a:ext uri="{FF2B5EF4-FFF2-40B4-BE49-F238E27FC236}">
                <a16:creationId xmlns:a16="http://schemas.microsoft.com/office/drawing/2014/main" id="{784C3C18-B170-453C-85D1-EEE8F2144C63}"/>
              </a:ext>
            </a:extLst>
          </p:cNvPr>
          <p:cNvPicPr>
            <a:picLocks noChangeAspect="1"/>
          </p:cNvPicPr>
          <p:nvPr/>
        </p:nvPicPr>
        <p:blipFill>
          <a:blip r:embed="rId4"/>
          <a:stretch>
            <a:fillRect/>
          </a:stretch>
        </p:blipFill>
        <p:spPr>
          <a:xfrm>
            <a:off x="2102984" y="4615876"/>
            <a:ext cx="3028666" cy="1723930"/>
          </a:xfrm>
          <a:prstGeom prst="rect">
            <a:avLst/>
          </a:prstGeom>
        </p:spPr>
      </p:pic>
    </p:spTree>
    <p:extLst>
      <p:ext uri="{BB962C8B-B14F-4D97-AF65-F5344CB8AC3E}">
        <p14:creationId xmlns:p14="http://schemas.microsoft.com/office/powerpoint/2010/main" val="2835511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481263"/>
            <a:ext cx="8596668" cy="5560099"/>
          </a:xfrm>
        </p:spPr>
        <p:txBody>
          <a:bodyPr/>
          <a:lstStyle/>
          <a:p>
            <a:pPr algn="just"/>
            <a:r>
              <a:rPr lang="en-US" dirty="0"/>
              <a:t>Exercise 4 - design a finite automaton E2 to recognize the regular language of all strings that contain the string 001 as a substring. For example, 0010, 1001, 001, and 11111110011111 are all in the language, but 11 and 0000 are not. </a:t>
            </a:r>
          </a:p>
        </p:txBody>
      </p:sp>
    </p:spTree>
    <p:extLst>
      <p:ext uri="{BB962C8B-B14F-4D97-AF65-F5344CB8AC3E}">
        <p14:creationId xmlns:p14="http://schemas.microsoft.com/office/powerpoint/2010/main" val="4088928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34189"/>
          </a:xfrm>
        </p:spPr>
        <p:txBody>
          <a:bodyPr/>
          <a:lstStyle/>
          <a:p>
            <a:r>
              <a:rPr lang="en-US" dirty="0" smtClean="0"/>
              <a:t>Solution</a:t>
            </a:r>
            <a:endParaRPr lang="en-US" dirty="0"/>
          </a:p>
        </p:txBody>
      </p:sp>
      <p:sp>
        <p:nvSpPr>
          <p:cNvPr id="3" name="Content Placeholder 2"/>
          <p:cNvSpPr>
            <a:spLocks noGrp="1"/>
          </p:cNvSpPr>
          <p:nvPr>
            <p:ph idx="1"/>
          </p:nvPr>
        </p:nvSpPr>
        <p:spPr>
          <a:xfrm>
            <a:off x="677334" y="1732547"/>
            <a:ext cx="8596668" cy="4308815"/>
          </a:xfrm>
        </p:spPr>
        <p:txBody>
          <a:bodyPr>
            <a:normAutofit lnSpcReduction="10000"/>
          </a:bodyPr>
          <a:lstStyle/>
          <a:p>
            <a:r>
              <a:rPr lang="en-US" dirty="0"/>
              <a:t>As symbols come in, you would initially skip over all 1s. If you come to a 0, then you note that you may have just seen the first of the three symbols in the pattern 001 you are seeking. If at this point you see a 1, there were too few </a:t>
            </a:r>
            <a:r>
              <a:rPr lang="en-US" dirty="0" err="1"/>
              <a:t>Os</a:t>
            </a:r>
            <a:r>
              <a:rPr lang="en-US" dirty="0"/>
              <a:t>, so you go back to skipping over 1s. But if you see a 0 at that point, you should remember that you have just seen two symbols of the pattern. </a:t>
            </a:r>
          </a:p>
          <a:p>
            <a:r>
              <a:rPr lang="en-US" dirty="0"/>
              <a:t>Now you simply need to continue scanning until you see a 1. If you find it, remember that you succeeded in finding the pattern and continue reading the input string until you get to the end. </a:t>
            </a:r>
          </a:p>
          <a:p>
            <a:r>
              <a:rPr lang="en-US" dirty="0"/>
              <a:t>So there are four possibilities: You </a:t>
            </a:r>
          </a:p>
          <a:p>
            <a:r>
              <a:rPr lang="en-US" dirty="0"/>
              <a:t>»1. haven't just seen any symbols of the pattern, </a:t>
            </a:r>
          </a:p>
          <a:p>
            <a:r>
              <a:rPr lang="en-US" dirty="0"/>
              <a:t>»2. have just seen a 0, </a:t>
            </a:r>
          </a:p>
          <a:p>
            <a:r>
              <a:rPr lang="en-US" dirty="0"/>
              <a:t>»3. have just seen 00, or </a:t>
            </a:r>
          </a:p>
          <a:p>
            <a:r>
              <a:rPr lang="en-US" dirty="0"/>
              <a:t>»4. have seen the entire pattern 001. </a:t>
            </a:r>
          </a:p>
          <a:p>
            <a:endParaRPr lang="en-US" dirty="0"/>
          </a:p>
        </p:txBody>
      </p:sp>
    </p:spTree>
    <p:extLst>
      <p:ext uri="{BB962C8B-B14F-4D97-AF65-F5344CB8AC3E}">
        <p14:creationId xmlns:p14="http://schemas.microsoft.com/office/powerpoint/2010/main" val="2904465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09601"/>
            <a:ext cx="8596668" cy="5431762"/>
          </a:xfrm>
        </p:spPr>
        <p:txBody>
          <a:bodyPr/>
          <a:lstStyle/>
          <a:p>
            <a:r>
              <a:rPr lang="en-US" dirty="0"/>
              <a:t>Assign the states q, </a:t>
            </a:r>
            <a:r>
              <a:rPr lang="en-US" dirty="0" err="1"/>
              <a:t>qo</a:t>
            </a:r>
            <a:r>
              <a:rPr lang="en-US" dirty="0"/>
              <a:t>, </a:t>
            </a:r>
            <a:r>
              <a:rPr lang="en-US" dirty="0" err="1"/>
              <a:t>qoo</a:t>
            </a:r>
            <a:r>
              <a:rPr lang="en-US" dirty="0"/>
              <a:t>, and qoo1 to these possibilities. You can assign the transitions by observing that from q reading a 1 you stay in q, but reading a 0 you move to q0. In </a:t>
            </a:r>
            <a:r>
              <a:rPr lang="en-US" dirty="0" err="1"/>
              <a:t>qo</a:t>
            </a:r>
            <a:r>
              <a:rPr lang="en-US" dirty="0"/>
              <a:t> reading a 1 you return to q, but reading a 0 you move to q00. </a:t>
            </a:r>
          </a:p>
          <a:p>
            <a:r>
              <a:rPr lang="en-US" dirty="0"/>
              <a:t>In qo0, reading a 1 you move to qoo1, but reading a 0 leaves you in q00. Finally, in qo01 reading a 0 or a 1 leaves you in qoo1. The start state is q, and the only accept state is q001, as shown in Figure. </a:t>
            </a:r>
          </a:p>
          <a:p>
            <a:endParaRPr lang="en-US" dirty="0"/>
          </a:p>
        </p:txBody>
      </p:sp>
      <p:pic>
        <p:nvPicPr>
          <p:cNvPr id="4" name="Content Placeholder 5">
            <a:extLst>
              <a:ext uri="{FF2B5EF4-FFF2-40B4-BE49-F238E27FC236}">
                <a16:creationId xmlns:a16="http://schemas.microsoft.com/office/drawing/2014/main" id="{3DFDB3E6-A6E7-40E4-9174-32AFBCCD436E}"/>
              </a:ext>
            </a:extLst>
          </p:cNvPr>
          <p:cNvPicPr>
            <a:picLocks noChangeAspect="1"/>
          </p:cNvPicPr>
          <p:nvPr/>
        </p:nvPicPr>
        <p:blipFill>
          <a:blip r:embed="rId2"/>
          <a:stretch>
            <a:fillRect/>
          </a:stretch>
        </p:blipFill>
        <p:spPr>
          <a:xfrm>
            <a:off x="727126" y="3325482"/>
            <a:ext cx="8192286" cy="2995950"/>
          </a:xfrm>
          <a:prstGeom prst="rect">
            <a:avLst/>
          </a:prstGeom>
        </p:spPr>
      </p:pic>
    </p:spTree>
    <p:extLst>
      <p:ext uri="{BB962C8B-B14F-4D97-AF65-F5344CB8AC3E}">
        <p14:creationId xmlns:p14="http://schemas.microsoft.com/office/powerpoint/2010/main" val="551101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it!</a:t>
            </a:r>
            <a:endParaRPr lang="en-US" dirty="0"/>
          </a:p>
        </p:txBody>
      </p:sp>
    </p:spTree>
    <p:extLst>
      <p:ext uri="{BB962C8B-B14F-4D97-AF65-F5344CB8AC3E}">
        <p14:creationId xmlns:p14="http://schemas.microsoft.com/office/powerpoint/2010/main" val="2653083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94270" y="0"/>
            <a:ext cx="5035739" cy="6620692"/>
          </a:xfrm>
          <a:prstGeom prst="rect">
            <a:avLst/>
          </a:prstGeom>
        </p:spPr>
      </p:pic>
    </p:spTree>
    <p:extLst>
      <p:ext uri="{BB962C8B-B14F-4D97-AF65-F5344CB8AC3E}">
        <p14:creationId xmlns:p14="http://schemas.microsoft.com/office/powerpoint/2010/main" val="35438009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131</TotalTime>
  <Words>1846</Words>
  <Application>Microsoft Office PowerPoint</Application>
  <PresentationFormat>Widescreen</PresentationFormat>
  <Paragraphs>115</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Trebuchet MS</vt:lpstr>
      <vt:lpstr>Wingdings 3</vt:lpstr>
      <vt:lpstr>Facet</vt:lpstr>
      <vt:lpstr>Introduction to Formal Languages and Basics of Automata</vt:lpstr>
      <vt:lpstr>Alphabet</vt:lpstr>
      <vt:lpstr>String</vt:lpstr>
      <vt:lpstr>Language</vt:lpstr>
      <vt:lpstr>PowerPoint Presentation</vt:lpstr>
      <vt:lpstr>Solution</vt:lpstr>
      <vt:lpstr>Operations on Languages</vt:lpstr>
      <vt:lpstr>PowerPoint Presentation</vt:lpstr>
      <vt:lpstr>Solution</vt:lpstr>
      <vt:lpstr>Operations on Languages (continued)</vt:lpstr>
      <vt:lpstr>Regular Expressions - Regex</vt:lpstr>
      <vt:lpstr>PowerPoint Presentation</vt:lpstr>
      <vt:lpstr>Introduction to Finite Automata (DFA, NFA, ε-NFA) </vt:lpstr>
      <vt:lpstr>PowerPoint Presentation</vt:lpstr>
      <vt:lpstr>Mathematical Theory of Finite Automata</vt:lpstr>
      <vt:lpstr>PowerPoint Presentation</vt:lpstr>
      <vt:lpstr>Solution</vt:lpstr>
      <vt:lpstr>PowerPoint Presentation</vt:lpstr>
      <vt:lpstr>PowerPoint Presentation</vt:lpstr>
      <vt:lpstr>PowerPoint Presentation</vt:lpstr>
      <vt:lpstr>PowerPoint Presentation</vt:lpstr>
      <vt:lpstr>Solution</vt:lpstr>
      <vt:lpstr>PowerPoint Presentation</vt:lpstr>
      <vt:lpstr>Code 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Formal Languages and Basics of Automata</dc:title>
  <dc:creator>Damir Rahmani</dc:creator>
  <cp:lastModifiedBy>Damir Rahmani</cp:lastModifiedBy>
  <cp:revision>11</cp:revision>
  <dcterms:created xsi:type="dcterms:W3CDTF">2023-10-08T17:52:36Z</dcterms:created>
  <dcterms:modified xsi:type="dcterms:W3CDTF">2023-10-09T13:27:51Z</dcterms:modified>
</cp:coreProperties>
</file>